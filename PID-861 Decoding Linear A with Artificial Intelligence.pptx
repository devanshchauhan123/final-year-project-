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57" r:id="rId2"/>
    <p:sldId id="259" r:id="rId3"/>
    <p:sldId id="260" r:id="rId4"/>
    <p:sldId id="263" r:id="rId5"/>
    <p:sldId id="264" r:id="rId6"/>
    <p:sldId id="267" r:id="rId7"/>
    <p:sldId id="265" r:id="rId8"/>
    <p:sldId id="269" r:id="rId9"/>
    <p:sldId id="270" r:id="rId10"/>
    <p:sldId id="268" r:id="rId11"/>
    <p:sldId id="271" r:id="rId12"/>
    <p:sldId id="272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8C21E-2B82-4D93-974C-FEB8E33F26C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92E9F-1566-4F36-862C-472AA481B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8173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108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3689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20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9407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9127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985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4815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3191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6945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02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7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2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0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3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1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6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7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6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4763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24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693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28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2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98E40-CB68-4E49-BA17-ED403516EA5F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A31AE5-ABEC-47EE-B1AF-DDA8A9BB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874297" y="2508369"/>
            <a:ext cx="10268320" cy="132339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i="1" dirty="0" smtClean="0">
                <a:solidFill>
                  <a:srgbClr val="002060"/>
                </a:solidFill>
                <a:latin typeface="Lora Medium"/>
                <a:ea typeface="Lora Medium"/>
                <a:cs typeface="Lora Medium"/>
                <a:sym typeface="Lora Medium"/>
              </a:rPr>
              <a:t>“</a:t>
            </a:r>
            <a:r>
              <a:rPr lang="en-US" sz="2800" i="1" dirty="0" smtClean="0">
                <a:solidFill>
                  <a:srgbClr val="002060"/>
                </a:solidFill>
                <a:latin typeface="Lora Medium"/>
                <a:ea typeface="Lora Medium"/>
                <a:cs typeface="Lora Medium"/>
                <a:sym typeface="Lora Medium"/>
              </a:rPr>
              <a:t>Decoding Linear A with Artificial </a:t>
            </a:r>
            <a:r>
              <a:rPr lang="en-US" sz="2800" i="1" dirty="0" err="1" smtClean="0">
                <a:solidFill>
                  <a:srgbClr val="002060"/>
                </a:solidFill>
                <a:latin typeface="Lora Medium"/>
                <a:ea typeface="Lora Medium"/>
                <a:cs typeface="Lora Medium"/>
                <a:sym typeface="Lora Medium"/>
              </a:rPr>
              <a:t>Intelligence:A</a:t>
            </a:r>
            <a:r>
              <a:rPr lang="en-US" sz="2800" i="1" dirty="0" smtClean="0">
                <a:solidFill>
                  <a:srgbClr val="002060"/>
                </a:solidFill>
                <a:latin typeface="Lora Medium"/>
                <a:ea typeface="Lora Medium"/>
                <a:cs typeface="Lora Medium"/>
                <a:sym typeface="Lora Medium"/>
              </a:rPr>
              <a:t> Comprehensive Machine Learning and NLP Framework</a:t>
            </a:r>
            <a:r>
              <a:rPr lang="en-US" sz="4000" i="1" dirty="0" smtClean="0">
                <a:solidFill>
                  <a:srgbClr val="002060"/>
                </a:solidFill>
                <a:latin typeface="Lora Medium"/>
                <a:ea typeface="Lora Medium"/>
                <a:cs typeface="Lora Medium"/>
                <a:sym typeface="Lora Medium"/>
              </a:rPr>
              <a:t>”</a:t>
            </a:r>
            <a:endParaRPr dirty="0"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63388" y="4231642"/>
            <a:ext cx="62652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Lora Medium"/>
                <a:ea typeface="Lora Medium"/>
                <a:cs typeface="Lora Medium"/>
                <a:sym typeface="Lora Medium"/>
              </a:rPr>
              <a:t>Presented by:</a:t>
            </a:r>
            <a:endParaRPr sz="2400" b="1" dirty="0">
              <a:latin typeface="Lora Medium"/>
              <a:ea typeface="Lora Medium"/>
              <a:cs typeface="Lora Medium"/>
              <a:sym typeface="Lora Medium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Lora"/>
                <a:ea typeface="Lora"/>
                <a:cs typeface="Lora"/>
                <a:sym typeface="Lora"/>
              </a:rPr>
              <a:t>PID-861</a:t>
            </a:r>
            <a:endParaRPr lang="en-US" sz="2400" b="1" dirty="0">
              <a:solidFill>
                <a:srgbClr val="002060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 smtClean="0">
                <a:solidFill>
                  <a:srgbClr val="002060"/>
                </a:solidFill>
                <a:latin typeface="Lora"/>
                <a:ea typeface="Lora"/>
                <a:cs typeface="Lora"/>
                <a:sym typeface="Lora"/>
              </a:rPr>
              <a:t>Mr</a:t>
            </a:r>
            <a:r>
              <a:rPr lang="en-US" sz="2400" b="1" dirty="0" smtClean="0">
                <a:solidFill>
                  <a:srgbClr val="00206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400" b="1" smtClean="0">
                <a:solidFill>
                  <a:srgbClr val="002060"/>
                </a:solidFill>
                <a:latin typeface="Lora"/>
                <a:ea typeface="Lora"/>
                <a:cs typeface="Lora"/>
                <a:sym typeface="Lora"/>
              </a:rPr>
              <a:t>Harsh Singh Mr</a:t>
            </a:r>
            <a:r>
              <a:rPr lang="en-US" sz="2400" b="1" dirty="0" smtClean="0">
                <a:solidFill>
                  <a:srgbClr val="00206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Lora"/>
                <a:ea typeface="Lora"/>
                <a:cs typeface="Lora"/>
                <a:sym typeface="Lora"/>
              </a:rPr>
              <a:t>Bikki Kumar</a:t>
            </a:r>
            <a:endParaRPr sz="2400" b="1" baseline="30000" dirty="0"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accent1"/>
                </a:solidFill>
                <a:latin typeface="Lora Medium"/>
                <a:ea typeface="Lora Medium"/>
                <a:cs typeface="Lora Medium"/>
                <a:sym typeface="Lora Medium"/>
              </a:rPr>
              <a:t>Kiet</a:t>
            </a:r>
            <a:r>
              <a:rPr lang="en-US" sz="2400" dirty="0" smtClean="0">
                <a:solidFill>
                  <a:schemeClr val="accent1"/>
                </a:solidFill>
                <a:latin typeface="Lora Medium"/>
                <a:ea typeface="Lora Medium"/>
                <a:cs typeface="Lora Medium"/>
                <a:sym typeface="Lora Medium"/>
              </a:rPr>
              <a:t> Group Institutions</a:t>
            </a:r>
            <a:endParaRPr sz="2400" dirty="0">
              <a:solidFill>
                <a:schemeClr val="accent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accent1"/>
                </a:solidFill>
                <a:latin typeface="Lora Medium"/>
                <a:ea typeface="Lora Medium"/>
                <a:cs typeface="Lora Medium"/>
                <a:sym typeface="Lora Medium"/>
              </a:rPr>
              <a:t>Ghaziabad , UP India.</a:t>
            </a:r>
            <a:endParaRPr sz="2400" dirty="0">
              <a:solidFill>
                <a:schemeClr val="accen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320420" y="325282"/>
            <a:ext cx="7561130" cy="13221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46275" tIns="91425" rIns="146275" bIns="91425" anchor="t" anchorCtr="0">
            <a:noAutofit/>
          </a:bodyPr>
          <a:lstStyle/>
          <a:p>
            <a:pPr lvl="0" algn="ctr">
              <a:buClr>
                <a:schemeClr val="accent4"/>
              </a:buClr>
              <a:buSzPts val="3600"/>
            </a:pPr>
            <a:r>
              <a:rPr lang="en-US" sz="2400" dirty="0">
                <a:solidFill>
                  <a:srgbClr val="1C4587"/>
                </a:solidFill>
                <a:latin typeface="Lora Medium"/>
                <a:ea typeface="Lora Medium"/>
                <a:cs typeface="Lora Medium"/>
                <a:sym typeface="Lora Medium"/>
              </a:rPr>
              <a:t>The International Conference on AI-Driven Smart Systems and Ubiquitous Computing </a:t>
            </a:r>
            <a:endParaRPr lang="en-US" sz="2400" dirty="0" smtClean="0">
              <a:solidFill>
                <a:srgbClr val="1C4587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lvl="0" algn="ctr">
              <a:buClr>
                <a:schemeClr val="accent4"/>
              </a:buClr>
              <a:buSzPts val="3600"/>
            </a:pPr>
            <a:r>
              <a:rPr lang="en-US" sz="2400" dirty="0" smtClean="0">
                <a:solidFill>
                  <a:srgbClr val="1C4587"/>
                </a:solidFill>
                <a:latin typeface="Lora Medium"/>
                <a:ea typeface="Lora Medium"/>
                <a:cs typeface="Lora Medium"/>
                <a:sym typeface="Lora Medium"/>
              </a:rPr>
              <a:t>(</a:t>
            </a:r>
            <a:r>
              <a:rPr lang="en-US" sz="2400" dirty="0">
                <a:solidFill>
                  <a:srgbClr val="1C4587"/>
                </a:solidFill>
                <a:latin typeface="Lora Medium"/>
                <a:ea typeface="Lora Medium"/>
                <a:cs typeface="Lora Medium"/>
                <a:sym typeface="Lora Medium"/>
              </a:rPr>
              <a:t>ICAUC 2026</a:t>
            </a:r>
            <a:r>
              <a:rPr lang="en-US" sz="2400" dirty="0" smtClean="0">
                <a:solidFill>
                  <a:srgbClr val="1C4587"/>
                </a:solidFill>
                <a:latin typeface="Lora Medium"/>
                <a:ea typeface="Lora Medium"/>
                <a:cs typeface="Lora Medium"/>
                <a:sym typeface="Lora Medium"/>
              </a:rPr>
              <a:t>)</a:t>
            </a:r>
          </a:p>
        </p:txBody>
      </p:sp>
      <p:sp>
        <p:nvSpPr>
          <p:cNvPr id="96" name="Google Shape;96;p1"/>
          <p:cNvSpPr/>
          <p:nvPr/>
        </p:nvSpPr>
        <p:spPr>
          <a:xfrm>
            <a:off x="0" y="0"/>
            <a:ext cx="12192000" cy="293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419888" y="1710498"/>
            <a:ext cx="3352200" cy="517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en-US" sz="2400" b="1" i="1" dirty="0" smtClean="0">
                <a:solidFill>
                  <a:srgbClr val="0B5394"/>
                </a:solidFill>
                <a:latin typeface="Lora"/>
                <a:ea typeface="Lora"/>
                <a:cs typeface="Lora"/>
                <a:sym typeface="Lora"/>
              </a:rPr>
              <a:t>19-22 January 2026</a:t>
            </a:r>
            <a:endParaRPr sz="2400" b="1" i="1" dirty="0">
              <a:solidFill>
                <a:srgbClr val="0B539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393" y="487865"/>
            <a:ext cx="2634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0" dirty="0" err="1" smtClean="0">
                <a:solidFill>
                  <a:srgbClr val="002060"/>
                </a:solidFill>
                <a:effectLst/>
                <a:latin typeface="ui-sans-serif"/>
              </a:rPr>
              <a:t>Shinawatra</a:t>
            </a:r>
            <a:r>
              <a:rPr lang="en-US" sz="2400" b="1" i="0" dirty="0" smtClean="0">
                <a:solidFill>
                  <a:srgbClr val="002060"/>
                </a:solidFill>
                <a:effectLst/>
                <a:latin typeface="ui-sans-serif"/>
              </a:rPr>
              <a:t> </a:t>
            </a:r>
          </a:p>
          <a:p>
            <a:pPr algn="ctr"/>
            <a:r>
              <a:rPr lang="en-US" sz="2400" b="1" i="0" dirty="0" smtClean="0">
                <a:solidFill>
                  <a:srgbClr val="002060"/>
                </a:solidFill>
                <a:effectLst/>
                <a:latin typeface="ui-sans-serif"/>
              </a:rPr>
              <a:t>University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881550" y="359710"/>
            <a:ext cx="21885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2060"/>
                </a:solidFill>
                <a:latin typeface="ui-sans-serif"/>
              </a:rPr>
              <a:t>Shinawatra</a:t>
            </a:r>
            <a:r>
              <a:rPr lang="en-US" sz="2400" b="1" dirty="0">
                <a:solidFill>
                  <a:srgbClr val="002060"/>
                </a:solidFill>
                <a:latin typeface="ui-sans-serif"/>
              </a:rPr>
              <a:t>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ui-sans-serif"/>
              </a:rPr>
              <a:t>University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72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mbria"/>
              <a:buNone/>
            </a:pPr>
            <a:r>
              <a:rPr lang="en-US" sz="1700">
                <a:solidFill>
                  <a:srgbClr val="002060"/>
                </a:solidFill>
                <a:latin typeface="Lora Medium"/>
                <a:ea typeface="Lora Medium"/>
                <a:cs typeface="Lora Medium"/>
                <a:sym typeface="Lora Medium"/>
              </a:rPr>
              <a:t>OUTLINES</a:t>
            </a:r>
            <a:endParaRPr sz="1700"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idx="1"/>
          </p:nvPr>
        </p:nvSpPr>
        <p:spPr>
          <a:xfrm>
            <a:off x="571500" y="734292"/>
            <a:ext cx="11137900" cy="555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63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457200" lvl="0" indent="-463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Problem </a:t>
            </a:r>
            <a:r>
              <a:rPr lang="en-US" sz="2400" dirty="0" smtClean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Statement</a:t>
            </a:r>
            <a:endParaRPr sz="2400" dirty="0">
              <a:solidFill>
                <a:schemeClr val="tx1"/>
              </a:solidFill>
            </a:endParaRPr>
          </a:p>
          <a:p>
            <a:pPr marL="457200" lvl="0" indent="-463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Literature Review </a:t>
            </a:r>
            <a:endParaRPr lang="en-US" sz="2400" dirty="0" smtClean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63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Objectives </a:t>
            </a:r>
          </a:p>
          <a:p>
            <a:pPr marL="457200" lvl="0" indent="-463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Methodologies </a:t>
            </a:r>
            <a:endParaRPr lang="en-US" sz="2400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463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2400" dirty="0" smtClean="0">
                <a:solidFill>
                  <a:schemeClr val="tx1"/>
                </a:solidFill>
              </a:rPr>
              <a:t>Results </a:t>
            </a:r>
            <a:r>
              <a:rPr lang="en-US" sz="2400" dirty="0">
                <a:solidFill>
                  <a:schemeClr val="tx1"/>
                </a:solidFill>
              </a:rPr>
              <a:t>&amp; Findings</a:t>
            </a:r>
          </a:p>
          <a:p>
            <a:pPr marL="457200" indent="-463550">
              <a:lnSpc>
                <a:spcPct val="150000"/>
              </a:lnSpc>
              <a:buClr>
                <a:schemeClr val="dk1"/>
              </a:buClr>
              <a:buSzPts val="1500"/>
              <a:buFont typeface="Wingdings 3" charset="2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Conclusion &amp; Future </a:t>
            </a:r>
            <a:r>
              <a:rPr lang="en-US" sz="2400" dirty="0" smtClean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Work</a:t>
            </a:r>
            <a:endParaRPr lang="en-US" sz="2400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sz="quarter" idx="12"/>
          </p:nvPr>
        </p:nvSpPr>
        <p:spPr>
          <a:xfrm>
            <a:off x="558800" y="6330950"/>
            <a:ext cx="81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2</a:t>
            </a:fld>
            <a:endParaRPr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3" name="Google Shape;107;p2">
            <a:extLst>
              <a:ext uri="{FF2B5EF4-FFF2-40B4-BE49-F238E27FC236}">
                <a16:creationId xmlns:a16="http://schemas.microsoft.com/office/drawing/2014/main" id="{CB846670-31BF-A3D5-8342-B51ABE9CB107}"/>
              </a:ext>
            </a:extLst>
          </p:cNvPr>
          <p:cNvSpPr/>
          <p:nvPr/>
        </p:nvSpPr>
        <p:spPr>
          <a:xfrm>
            <a:off x="0" y="0"/>
            <a:ext cx="12192000" cy="293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6978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mbria"/>
              <a:buNone/>
            </a:pPr>
            <a:r>
              <a:rPr lang="en-US" sz="2400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US" sz="1800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. </a:t>
            </a:r>
            <a:r>
              <a:rPr lang="en-US" sz="2400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2400"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idx="1"/>
          </p:nvPr>
        </p:nvSpPr>
        <p:spPr>
          <a:xfrm>
            <a:off x="571500" y="879763"/>
            <a:ext cx="11137900" cy="518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000" dirty="0" smtClean="0"/>
              <a:t>Linear A, used by the Minoan civilization (1800–1450 BCE), remains </a:t>
            </a:r>
            <a:r>
              <a:rPr lang="en-US" sz="2000" dirty="0" err="1" smtClean="0"/>
              <a:t>undeciphered</a:t>
            </a:r>
            <a:r>
              <a:rPr lang="en-US" sz="2000" dirty="0" smtClean="0"/>
              <a:t> due to a limited corpus, lack of bilingual texts, and an unknown source language.</a:t>
            </a:r>
          </a:p>
          <a:p>
            <a:pPr marL="40005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000" dirty="0" smtClean="0"/>
              <a:t>Traditional linguistic methods based on manual analysis and comparison with Linear B have shown limited effectiveness.</a:t>
            </a:r>
          </a:p>
          <a:p>
            <a:pPr marL="40005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000" dirty="0" smtClean="0"/>
              <a:t>Recent advances in unsupervised machine learning and natural language processing enable analysis of low-resource ancient scripts.</a:t>
            </a:r>
          </a:p>
          <a:p>
            <a:pPr marL="40005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000" dirty="0" smtClean="0"/>
              <a:t>This work proposes a comprehensive AI framework combining clustering, topic modeling (LDA), Transformers, graph neural networks, and visualization techniques.</a:t>
            </a:r>
          </a:p>
          <a:p>
            <a:pPr marL="40005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342900" lvl="1" algn="just">
              <a:spcBef>
                <a:spcPts val="0"/>
              </a:spcBef>
              <a:buClr>
                <a:srgbClr val="002060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000" dirty="0" smtClean="0"/>
              <a:t>The approach extends prior studies and is scalable to other </a:t>
            </a:r>
            <a:r>
              <a:rPr lang="en-US" sz="2000" dirty="0" err="1" smtClean="0"/>
              <a:t>undeciphered</a:t>
            </a:r>
            <a:r>
              <a:rPr lang="en-US" sz="2000" dirty="0" smtClean="0"/>
              <a:t> scripts such as Proto-Elamite and Rongorongo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8" name="Google Shape;107;p2">
            <a:extLst>
              <a:ext uri="{FF2B5EF4-FFF2-40B4-BE49-F238E27FC236}">
                <a16:creationId xmlns:a16="http://schemas.microsoft.com/office/drawing/2014/main" id="{CB846670-31BF-A3D5-8342-B51ABE9CB107}"/>
              </a:ext>
            </a:extLst>
          </p:cNvPr>
          <p:cNvSpPr/>
          <p:nvPr/>
        </p:nvSpPr>
        <p:spPr>
          <a:xfrm>
            <a:off x="0" y="0"/>
            <a:ext cx="12192000" cy="2934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146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mbria"/>
              <a:buNone/>
            </a:pPr>
            <a:r>
              <a:rPr lang="en-US" sz="18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2. PROBLEM STATEMENT</a:t>
            </a:r>
            <a:endParaRPr sz="1800"/>
          </a:p>
        </p:txBody>
      </p:sp>
      <p:sp>
        <p:nvSpPr>
          <p:cNvPr id="127" name="Google Shape;127;p4"/>
          <p:cNvSpPr txBox="1">
            <a:spLocks noGrp="1"/>
          </p:cNvSpPr>
          <p:nvPr>
            <p:ph idx="1"/>
          </p:nvPr>
        </p:nvSpPr>
        <p:spPr>
          <a:xfrm>
            <a:off x="557645" y="810491"/>
            <a:ext cx="11137900" cy="518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 smtClean="0"/>
              <a:t>Linear A remains </a:t>
            </a:r>
            <a:r>
              <a:rPr lang="en-US" sz="2000" dirty="0" err="1" smtClean="0"/>
              <a:t>undeciphered</a:t>
            </a:r>
            <a:r>
              <a:rPr lang="en-US" sz="2000" dirty="0" smtClean="0"/>
              <a:t> due to a limited number of inscriptions, absence of bilingual texts, and an unknown linguistic origin.</a:t>
            </a:r>
          </a:p>
          <a:p>
            <a:r>
              <a:rPr lang="en-US" sz="2000" dirty="0" smtClean="0"/>
              <a:t>Traditional linguistic and comparative methods, particularly with Linear B, have produced limited and inconsistent results.</a:t>
            </a:r>
          </a:p>
          <a:p>
            <a:r>
              <a:rPr lang="en-US" sz="2000" dirty="0" smtClean="0"/>
              <a:t>The scarcity and fragmentation of data make supervised learning approaches impractical for script analysis.</a:t>
            </a:r>
          </a:p>
          <a:p>
            <a:r>
              <a:rPr lang="en-US" sz="2000" dirty="0" smtClean="0"/>
              <a:t>Existing AI models used in isolation fail to capture both global semantic context and local structural relationships.</a:t>
            </a:r>
          </a:p>
          <a:p>
            <a:r>
              <a:rPr lang="en-US" sz="2000" dirty="0" smtClean="0"/>
              <a:t>There is a need for a robust, unsupervised, and context-aware AI framework to analyze and interpret Linear A inscriptions while minimizing speculative reconstruction.</a:t>
            </a:r>
            <a:endParaRPr lang="en-US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7473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002060"/>
              </a:buClr>
              <a:buSzPts val="2800"/>
            </a:pPr>
            <a:r>
              <a:rPr lang="en-US" sz="1800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en-US" sz="1800" dirty="0" smtClean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. LITERATURE REVIEW	</a:t>
            </a:r>
            <a:endParaRPr sz="1800"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idx="1"/>
          </p:nvPr>
        </p:nvSpPr>
        <p:spPr>
          <a:xfrm>
            <a:off x="557645" y="810491"/>
            <a:ext cx="11137900" cy="518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 smtClean="0"/>
              <a:t>Early research on Linear A primarily relied on manual symbol analysis and comparison with Linear B, which was deciphered as Mycenaean Greek, but yielded limited success.</a:t>
            </a:r>
          </a:p>
          <a:p>
            <a:r>
              <a:rPr lang="en-US" sz="2000" dirty="0" smtClean="0"/>
              <a:t>Statistical approaches, including n-gram and symbol co-occurrence analysis, identified recurring patterns but failed to achieve definitive decipherment.</a:t>
            </a:r>
          </a:p>
          <a:p>
            <a:r>
              <a:rPr lang="en-US" sz="2000" dirty="0" smtClean="0"/>
              <a:t>Archaeological studies suggest Linear A was used mainly for administrative and ritual purposes; however, the absence of a bilingual reference text severely restricts traditional methods.</a:t>
            </a:r>
          </a:p>
          <a:p>
            <a:r>
              <a:rPr lang="en-US" sz="2000" dirty="0" smtClean="0"/>
              <a:t>Advances in AI have enabled successful analysis of other ancient scripts using Transformers, GNNs, HMMs, VAEs, and visualization techniques, yet their application to Linear A remains underexplored, revealing a significant research gap.</a:t>
            </a:r>
          </a:p>
          <a:p>
            <a:r>
              <a:rPr lang="en-US" sz="2000" dirty="0" smtClean="0"/>
              <a:t>This work builds upon foundations in information theory, clustering, and NLP, integrating ethical AI principles to ensure methodological rigor and cultural sensitivity in addressing Linear A.</a:t>
            </a:r>
            <a:endParaRPr lang="en-US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3172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002060"/>
              </a:buClr>
              <a:buSzPts val="2800"/>
            </a:pPr>
            <a:r>
              <a:rPr lang="en-US" sz="1800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lang="en-US" sz="1800" dirty="0" smtClean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. LITERATURE REVIEW	</a:t>
            </a:r>
            <a:endParaRPr sz="1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717386"/>
              </p:ext>
            </p:extLst>
          </p:nvPr>
        </p:nvGraphicFramePr>
        <p:xfrm>
          <a:off x="1062317" y="1017663"/>
          <a:ext cx="10327342" cy="40050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1576">
                  <a:extLst>
                    <a:ext uri="{9D8B030D-6E8A-4147-A177-3AD203B41FA5}">
                      <a16:colId xmlns:a16="http://schemas.microsoft.com/office/drawing/2014/main" val="1877802805"/>
                    </a:ext>
                  </a:extLst>
                </a:gridCol>
                <a:gridCol w="1545486">
                  <a:extLst>
                    <a:ext uri="{9D8B030D-6E8A-4147-A177-3AD203B41FA5}">
                      <a16:colId xmlns:a16="http://schemas.microsoft.com/office/drawing/2014/main" val="1718343971"/>
                    </a:ext>
                  </a:extLst>
                </a:gridCol>
                <a:gridCol w="1545486">
                  <a:extLst>
                    <a:ext uri="{9D8B030D-6E8A-4147-A177-3AD203B41FA5}">
                      <a16:colId xmlns:a16="http://schemas.microsoft.com/office/drawing/2014/main" val="1863456958"/>
                    </a:ext>
                  </a:extLst>
                </a:gridCol>
                <a:gridCol w="2212284">
                  <a:extLst>
                    <a:ext uri="{9D8B030D-6E8A-4147-A177-3AD203B41FA5}">
                      <a16:colId xmlns:a16="http://schemas.microsoft.com/office/drawing/2014/main" val="1617147418"/>
                    </a:ext>
                  </a:extLst>
                </a:gridCol>
                <a:gridCol w="2742510">
                  <a:extLst>
                    <a:ext uri="{9D8B030D-6E8A-4147-A177-3AD203B41FA5}">
                      <a16:colId xmlns:a16="http://schemas.microsoft.com/office/drawing/2014/main" val="2868885870"/>
                    </a:ext>
                  </a:extLst>
                </a:gridCol>
              </a:tblGrid>
              <a:tr h="73315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Script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Inscriptions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Deciphered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AI Applicability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Key Challenge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0993845"/>
                  </a:ext>
                </a:extLst>
              </a:tr>
              <a:tr h="51014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Linear A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1,500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No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High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Small dataset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2710198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Linear B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5,000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Yes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Moderate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Limited novelty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8651770"/>
                  </a:ext>
                </a:extLst>
              </a:tr>
              <a:tr h="39208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Cuneiform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500,000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Yes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Low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Extensive data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5740658"/>
                  </a:ext>
                </a:extLst>
              </a:tr>
              <a:tr h="56262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Rongorongo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25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No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High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Extremely limited data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1424216"/>
                  </a:ext>
                </a:extLst>
              </a:tr>
              <a:tr h="49703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Proto-Elamite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1,600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No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High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Unknown language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8312336"/>
                  </a:ext>
                </a:extLst>
              </a:tr>
              <a:tr h="57573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Harappan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4,000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No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>
                          <a:effectLst/>
                        </a:rPr>
                        <a:t>High</a:t>
                      </a:r>
                      <a:endParaRPr lang="en-US" sz="24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2880" algn="l"/>
                        </a:tabLst>
                      </a:pPr>
                      <a:r>
                        <a:rPr lang="en-US" sz="2400" spc="-5" dirty="0">
                          <a:effectLst/>
                        </a:rPr>
                        <a:t>No bilingual texts</a:t>
                      </a:r>
                      <a:endParaRPr lang="en-US" sz="24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7717122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33468" y="5240302"/>
            <a:ext cx="45885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2563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2563" algn="l"/>
              </a:tabLs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Statistic Summary of Linear A Symbol Usage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54570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002060"/>
              </a:buClr>
              <a:buSzPts val="2800"/>
            </a:pPr>
            <a:r>
              <a:rPr lang="en-US" sz="1800" dirty="0" smtClean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4. OBJECTIVES	</a:t>
            </a:r>
            <a:endParaRPr sz="1800"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idx="1"/>
          </p:nvPr>
        </p:nvSpPr>
        <p:spPr>
          <a:xfrm>
            <a:off x="557645" y="810491"/>
            <a:ext cx="11137900" cy="518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 smtClean="0"/>
              <a:t>To develop an unsupervised AI framework for analyzing and interpreting Linear A inscriptions.</a:t>
            </a:r>
          </a:p>
          <a:p>
            <a:r>
              <a:rPr lang="en-US" sz="2400" dirty="0" smtClean="0"/>
              <a:t>To identify statistical, structural, and semantic patterns within a limited and unlabeled corpus.</a:t>
            </a:r>
          </a:p>
          <a:p>
            <a:r>
              <a:rPr lang="en-US" sz="2400" dirty="0" smtClean="0"/>
              <a:t>To integrate global thematic modeling and local structural analysis using multiple AI techniques.</a:t>
            </a:r>
          </a:p>
          <a:p>
            <a:r>
              <a:rPr lang="en-US" sz="2400" dirty="0" smtClean="0"/>
              <a:t>To minimize speculative reconstruction through confidence-aware and context-constrained prediction.</a:t>
            </a:r>
          </a:p>
          <a:p>
            <a:r>
              <a:rPr lang="en-US" sz="2400" dirty="0" smtClean="0"/>
              <a:t>To demonstrate the scalability of the proposed approach to other </a:t>
            </a:r>
            <a:r>
              <a:rPr lang="en-US" sz="2400" dirty="0" err="1" smtClean="0"/>
              <a:t>undeciphered</a:t>
            </a:r>
            <a:r>
              <a:rPr lang="en-US" sz="2400" dirty="0" smtClean="0"/>
              <a:t> ancient scripts</a:t>
            </a:r>
            <a:endParaRPr lang="en-US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7240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002060"/>
              </a:buClr>
              <a:buSzPts val="2800"/>
            </a:pPr>
            <a:r>
              <a:rPr lang="en-US" sz="1800" dirty="0" smtClean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5. Methodology	</a:t>
            </a:r>
            <a:endParaRPr sz="1800"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idx="1"/>
          </p:nvPr>
        </p:nvSpPr>
        <p:spPr>
          <a:xfrm>
            <a:off x="546100" y="810491"/>
            <a:ext cx="11149445" cy="561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b="1" dirty="0" smtClean="0"/>
              <a:t>Data Collection:</a:t>
            </a:r>
            <a:r>
              <a:rPr lang="en-US" sz="2400" dirty="0" smtClean="0"/>
              <a:t> ~1,500 Linear A inscriptions from the University of Crete digitized into 85-symbol sequences with archaeological metadata; ~5,000 Linear B inscriptions used for comparative analysis, supported by reports and 3D tablet scans.</a:t>
            </a:r>
          </a:p>
          <a:p>
            <a:r>
              <a:rPr lang="en-US" sz="2400" b="1" dirty="0" smtClean="0"/>
              <a:t>Preprocessing &amp; Features:</a:t>
            </a:r>
            <a:r>
              <a:rPr lang="en-US" sz="2400" dirty="0" smtClean="0"/>
              <a:t> Symbols tokenized and ambiguities handled using expectation–maximization. Features include symbol frequency, co-occurrence matrices, positional information, and contextual metadata; complexity measured using entropy, mutual information, and Jensen–Shannon divergence.</a:t>
            </a:r>
          </a:p>
          <a:p>
            <a:r>
              <a:rPr lang="en-US" sz="2400" b="1" dirty="0" smtClean="0"/>
              <a:t>AI Modeling:</a:t>
            </a:r>
            <a:r>
              <a:rPr lang="en-US" sz="2400" dirty="0" smtClean="0"/>
              <a:t> Integrated unsupervised framework combining k-means and spectral clustering, LDA for thematic modeling, Transformer-based sequence modeling for long-range dependencies, GNNs for structural relationships, and HMMs for sequential patterns.</a:t>
            </a:r>
          </a:p>
          <a:p>
            <a:r>
              <a:rPr lang="en-US" sz="2400" b="1" dirty="0" smtClean="0"/>
              <a:t>Comparative Analysis:</a:t>
            </a:r>
            <a:r>
              <a:rPr lang="en-US" sz="2400" dirty="0" smtClean="0"/>
              <a:t> Dynamic programming–based sequence alignment between Linear A and Linear B to infer potential structural and phonetic correspondences.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Evaluation:</a:t>
            </a:r>
            <a:r>
              <a:rPr lang="en-US" sz="2400" dirty="0" smtClean="0"/>
              <a:t> Model effectiveness assessed using silhouette score, topic perplexity, and adapted BLEU score for symbol sequence prediction.</a:t>
            </a:r>
            <a:endParaRPr lang="en-US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15502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002060"/>
              </a:buClr>
              <a:buSzPts val="2800"/>
            </a:pPr>
            <a:r>
              <a:rPr lang="en-US" sz="1800" dirty="0" smtClean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5. Methodology	</a:t>
            </a:r>
            <a:endParaRPr sz="1800"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idx="1"/>
          </p:nvPr>
        </p:nvSpPr>
        <p:spPr>
          <a:xfrm>
            <a:off x="546100" y="810491"/>
            <a:ext cx="11149445" cy="561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 smtClean="0"/>
              <a:t>Data Collection:</a:t>
            </a:r>
            <a:r>
              <a:rPr lang="en-US" sz="2000" dirty="0" smtClean="0"/>
              <a:t> ~1,500 Linear A inscriptions from the University of Crete digitized into 85-symbol sequences with archaeological metadata; ~5,000 Linear B inscriptions used for comparative analysis, supported by reports and 3D tablet scans.</a:t>
            </a:r>
          </a:p>
          <a:p>
            <a:r>
              <a:rPr lang="en-US" sz="2000" b="1" dirty="0" smtClean="0"/>
              <a:t>Preprocessing &amp; Features:</a:t>
            </a:r>
            <a:r>
              <a:rPr lang="en-US" sz="2000" dirty="0" smtClean="0"/>
              <a:t> Symbols tokenized and ambiguities handled using expectation–maximization. Features include symbol frequency, co-occurrence matrices, positional information, and contextual metadata; complexity measured using entropy, mutual information, and Jensen–Shannon divergence.</a:t>
            </a:r>
          </a:p>
          <a:p>
            <a:r>
              <a:rPr lang="en-US" sz="2000" b="1" dirty="0" smtClean="0"/>
              <a:t>AI Modeling:</a:t>
            </a:r>
            <a:r>
              <a:rPr lang="en-US" sz="2000" dirty="0" smtClean="0"/>
              <a:t> Integrated unsupervised framework combining k-means and spectral clustering, LDA for thematic modeling, Transformer-based sequence modeling for long-range dependencies, GNNs for structural relationships, and HMMs for sequential patterns.</a:t>
            </a:r>
          </a:p>
          <a:p>
            <a:r>
              <a:rPr lang="en-US" sz="2000" b="1" dirty="0" smtClean="0"/>
              <a:t>Comparative Analysis:</a:t>
            </a:r>
            <a:r>
              <a:rPr lang="en-US" sz="2000" dirty="0" smtClean="0"/>
              <a:t> Dynamic programming–based sequence alignment between Linear A and Linear B to infer potential structural and phonetic </a:t>
            </a:r>
            <a:r>
              <a:rPr lang="en-US" sz="2400" dirty="0" smtClean="0"/>
              <a:t>correspondences.</a:t>
            </a:r>
          </a:p>
          <a:p>
            <a:r>
              <a:rPr lang="en-US" sz="2400" dirty="0" smtClean="0"/>
              <a:t> </a:t>
            </a:r>
            <a:r>
              <a:rPr lang="en-US" sz="2000" b="1" dirty="0" smtClean="0"/>
              <a:t>Evaluation:</a:t>
            </a:r>
            <a:r>
              <a:rPr lang="en-US" sz="2000" dirty="0" smtClean="0"/>
              <a:t> Model effectiveness assessed using silhouette score, topic perplexity, and adapted BLEU score for symbol sequence prediction.</a:t>
            </a:r>
            <a:endParaRPr lang="en-US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69362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bikki\Downloads\Mermaid Chart - Create complex, visual diagrams with text.-2025-12-22-055106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406" y="1071155"/>
            <a:ext cx="10175965" cy="390579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243509" y="5830780"/>
            <a:ext cx="3935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Architectural diagram of LDA and GNN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7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8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9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7903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7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8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9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34142" y="1247733"/>
            <a:ext cx="1012371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Statistical Analysis:</a:t>
            </a:r>
            <a:r>
              <a:rPr lang="en-US" sz="2000" dirty="0" smtClean="0"/>
              <a:t> Analysis of 1,500 Linear A inscriptions identified </a:t>
            </a:r>
            <a:r>
              <a:rPr lang="en-US" sz="2000" b="1" dirty="0" smtClean="0"/>
              <a:t>85 unique symbols</a:t>
            </a:r>
            <a:r>
              <a:rPr lang="en-US" sz="2000" dirty="0" smtClean="0"/>
              <a:t> with entropy </a:t>
            </a:r>
            <a:r>
              <a:rPr lang="en-US" sz="2000" b="1" dirty="0" smtClean="0"/>
              <a:t>H(S) ≈ 4.2 bits</a:t>
            </a:r>
            <a:r>
              <a:rPr lang="en-US" sz="2000" dirty="0" smtClean="0"/>
              <a:t>, mutual information </a:t>
            </a:r>
            <a:r>
              <a:rPr lang="en-US" sz="2000" b="1" dirty="0" smtClean="0"/>
              <a:t>0.32 bits</a:t>
            </a:r>
            <a:r>
              <a:rPr lang="en-US" sz="2000" dirty="0" smtClean="0"/>
              <a:t>, and average Jensen–Shannon divergence </a:t>
            </a:r>
            <a:r>
              <a:rPr lang="en-US" sz="2000" b="1" dirty="0" smtClean="0"/>
              <a:t>0.15</a:t>
            </a:r>
            <a:r>
              <a:rPr lang="en-US" sz="2000" dirty="0" smtClean="0"/>
              <a:t>, indicating moderate complexity and strong symbol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Clustering Performance:</a:t>
            </a:r>
            <a:r>
              <a:rPr lang="en-US" sz="2000" dirty="0" smtClean="0"/>
              <a:t> K-means identified </a:t>
            </a:r>
            <a:r>
              <a:rPr lang="en-US" sz="2000" b="1" dirty="0" smtClean="0"/>
              <a:t>8 distinct symbol clusters</a:t>
            </a:r>
            <a:r>
              <a:rPr lang="en-US" sz="2000" dirty="0" smtClean="0"/>
              <a:t> (silhouette score </a:t>
            </a:r>
            <a:r>
              <a:rPr lang="en-US" sz="2000" b="1" dirty="0" smtClean="0"/>
              <a:t>0.65</a:t>
            </a:r>
            <a:r>
              <a:rPr lang="en-US" sz="2000" dirty="0" smtClean="0"/>
              <a:t>), while spectral clustering achieved a normalized cut of </a:t>
            </a:r>
            <a:r>
              <a:rPr lang="en-US" sz="2000" b="1" dirty="0" smtClean="0"/>
              <a:t>0.42</a:t>
            </a:r>
            <a:r>
              <a:rPr lang="en-US" sz="2000" dirty="0" smtClean="0"/>
              <a:t>, outperforming random baselines and indicating robust structural partitions.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Topic Modeling:</a:t>
            </a:r>
            <a:r>
              <a:rPr lang="en-US" sz="2000" dirty="0" smtClean="0"/>
              <a:t> LDA discovered </a:t>
            </a:r>
            <a:r>
              <a:rPr lang="en-US" sz="2000" b="1" dirty="0" smtClean="0"/>
              <a:t>7 coherent thematic topics</a:t>
            </a:r>
            <a:r>
              <a:rPr lang="en-US" sz="2000" dirty="0" smtClean="0"/>
              <a:t> with perplexity </a:t>
            </a:r>
            <a:r>
              <a:rPr lang="en-US" sz="2000" b="1" dirty="0" smtClean="0"/>
              <a:t>45.2</a:t>
            </a:r>
            <a:r>
              <a:rPr lang="en-US" sz="2000" dirty="0" smtClean="0"/>
              <a:t>, aligning with known archaeological contexts such as administrative and ritual inscriptions.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Sequence Modeling:</a:t>
            </a:r>
            <a:r>
              <a:rPr lang="en-US" sz="2000" dirty="0" smtClean="0"/>
              <a:t> Transformer-based models captured recurring syntactic patterns, achieving a </a:t>
            </a:r>
            <a:r>
              <a:rPr lang="en-US" sz="2000" b="1" dirty="0" smtClean="0"/>
              <a:t>BLEU score of 0.72</a:t>
            </a:r>
            <a:r>
              <a:rPr lang="en-US" sz="2000" dirty="0" smtClean="0"/>
              <a:t>, significantly outperforming n-gram baselines.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/>
              <a:t>Comparative Insights:</a:t>
            </a:r>
            <a:r>
              <a:rPr lang="en-US" sz="2000" dirty="0" smtClean="0"/>
              <a:t> Comparative analysis revealed a </a:t>
            </a:r>
            <a:r>
              <a:rPr lang="en-US" sz="2000" b="1" dirty="0" smtClean="0"/>
              <a:t>22% symbol overlap with Linear B</a:t>
            </a:r>
            <a:r>
              <a:rPr lang="en-US" sz="2000" dirty="0" smtClean="0"/>
              <a:t>, supporting hypotheses of partial linguistic continuity while confirming Linear A as a distinct language system.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1009559" y="482983"/>
            <a:ext cx="22769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6.Results &amp; Findings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8854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546100" y="365125"/>
            <a:ext cx="11163300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002060"/>
              </a:buClr>
              <a:buSzPts val="2800"/>
            </a:pPr>
            <a:r>
              <a:rPr lang="en-US" sz="1800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r>
              <a:rPr lang="en-US" sz="1800" dirty="0" smtClean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. Conclusion &amp; Future Work	</a:t>
            </a:r>
            <a:endParaRPr sz="1800"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idx="1"/>
          </p:nvPr>
        </p:nvSpPr>
        <p:spPr>
          <a:xfrm>
            <a:off x="546100" y="810491"/>
            <a:ext cx="11149445" cy="561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 smtClean="0"/>
              <a:t>This study demonstrates the effectiveness of </a:t>
            </a:r>
            <a:r>
              <a:rPr lang="en-US" sz="2000" b="1" dirty="0" smtClean="0"/>
              <a:t>AI-driven analysis</a:t>
            </a:r>
            <a:r>
              <a:rPr lang="en-US" sz="2000" dirty="0" smtClean="0"/>
              <a:t> in uncovering statistical, structural, and semantic patterns in Linear A, advancing computational decipherment efforts.</a:t>
            </a:r>
          </a:p>
          <a:p>
            <a:r>
              <a:rPr lang="en-US" sz="2000" dirty="0" smtClean="0"/>
              <a:t>The proposed framework—integrating </a:t>
            </a:r>
            <a:r>
              <a:rPr lang="en-US" sz="2000" b="1" dirty="0" smtClean="0"/>
              <a:t>k-means and spectral clustering, LDA, Transformers, GNNs, HMMs, VAEs, and t-SNE visualization</a:t>
            </a:r>
            <a:r>
              <a:rPr lang="en-US" sz="2000" dirty="0" smtClean="0"/>
              <a:t>—offers a robust and scalable methodology for ancient script analysis.</a:t>
            </a:r>
          </a:p>
          <a:p>
            <a:r>
              <a:rPr lang="en-US" sz="2000" dirty="0" smtClean="0"/>
              <a:t>Clustering and topic modeling results reveal meaningful symbol groupings and thematic distributions, consistent with archaeological interpretations.</a:t>
            </a:r>
          </a:p>
          <a:p>
            <a:r>
              <a:rPr lang="en-US" sz="2000" dirty="0" smtClean="0"/>
              <a:t>The approach generalizes beyond Linear A and is applicable to other </a:t>
            </a:r>
            <a:r>
              <a:rPr lang="en-US" sz="2000" dirty="0" err="1" smtClean="0"/>
              <a:t>undeciphered</a:t>
            </a:r>
            <a:r>
              <a:rPr lang="en-US" sz="2000" dirty="0" smtClean="0"/>
              <a:t> scripts, including </a:t>
            </a:r>
            <a:r>
              <a:rPr lang="en-US" sz="2000" b="1" dirty="0" smtClean="0"/>
              <a:t>Proto-Elamite, Rongorongo, and </a:t>
            </a:r>
            <a:r>
              <a:rPr lang="en-US" sz="2000" b="1" dirty="0" err="1" smtClean="0"/>
              <a:t>Harappan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Future work will focus on </a:t>
            </a:r>
            <a:r>
              <a:rPr lang="en-US" sz="2000" b="1" dirty="0" smtClean="0"/>
              <a:t>multimodal data integration</a:t>
            </a:r>
            <a:r>
              <a:rPr lang="en-US" sz="2000" dirty="0" smtClean="0"/>
              <a:t>, incorporating tablet imagery and 3D scans using convolutional neural networks to enhance contextual understanding.</a:t>
            </a:r>
            <a:endParaRPr lang="en-US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206067-C375-0479-E35A-C68D7781C5A3}"/>
              </a:ext>
            </a:extLst>
          </p:cNvPr>
          <p:cNvGrpSpPr/>
          <p:nvPr/>
        </p:nvGrpSpPr>
        <p:grpSpPr>
          <a:xfrm>
            <a:off x="0" y="0"/>
            <a:ext cx="12192000" cy="293400"/>
            <a:chOff x="0" y="0"/>
            <a:chExt cx="12192000" cy="293400"/>
          </a:xfrm>
        </p:grpSpPr>
        <p:sp>
          <p:nvSpPr>
            <p:cNvPr id="12" name="Google Shape;107;p2">
              <a:extLst>
                <a:ext uri="{FF2B5EF4-FFF2-40B4-BE49-F238E27FC236}">
                  <a16:creationId xmlns:a16="http://schemas.microsoft.com/office/drawing/2014/main" id="{A6BCEECB-3981-9872-43D1-3CA3CD7C8E94}"/>
                </a:ext>
              </a:extLst>
            </p:cNvPr>
            <p:cNvSpPr/>
            <p:nvPr/>
          </p:nvSpPr>
          <p:spPr>
            <a:xfrm>
              <a:off x="0" y="0"/>
              <a:ext cx="12192000" cy="29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FFFFFF"/>
                </a:solidFill>
                <a:highlight>
                  <a:srgbClr val="980000"/>
                </a:highlight>
                <a:latin typeface="Lora Medium"/>
                <a:ea typeface="Lora Medium"/>
                <a:cs typeface="Lora Medium"/>
                <a:sym typeface="Lora Medium"/>
              </a:endParaRPr>
            </a:p>
          </p:txBody>
        </p:sp>
        <p:sp>
          <p:nvSpPr>
            <p:cNvPr id="14" name="Google Shape;109;p2">
              <a:extLst>
                <a:ext uri="{FF2B5EF4-FFF2-40B4-BE49-F238E27FC236}">
                  <a16:creationId xmlns:a16="http://schemas.microsoft.com/office/drawing/2014/main" id="{2EA3BC79-9542-84C6-598E-4D293C8D18A4}"/>
                </a:ext>
              </a:extLst>
            </p:cNvPr>
            <p:cNvSpPr txBox="1"/>
            <p:nvPr/>
          </p:nvSpPr>
          <p:spPr>
            <a:xfrm>
              <a:off x="8793375" y="0"/>
              <a:ext cx="3352200" cy="267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 i="1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Google Shape;89;p1">
            <a:extLst>
              <a:ext uri="{FF2B5EF4-FFF2-40B4-BE49-F238E27FC236}">
                <a16:creationId xmlns:a16="http://schemas.microsoft.com/office/drawing/2014/main" id="{09740BB1-9706-D1A3-BDDA-98790F10DA39}"/>
              </a:ext>
            </a:extLst>
          </p:cNvPr>
          <p:cNvSpPr/>
          <p:nvPr/>
        </p:nvSpPr>
        <p:spPr>
          <a:xfrm>
            <a:off x="0" y="6564575"/>
            <a:ext cx="12192000" cy="2934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FFFFFF"/>
              </a:solidFill>
              <a:highlight>
                <a:srgbClr val="980000"/>
              </a:highlight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52200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697789" y="2702860"/>
            <a:ext cx="10626300" cy="92328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i="1" dirty="0">
                <a:solidFill>
                  <a:srgbClr val="002060"/>
                </a:solidFill>
                <a:latin typeface="Pacifico"/>
                <a:ea typeface="Pacifico"/>
                <a:cs typeface="Pacifico"/>
                <a:sym typeface="Pacifico"/>
              </a:rPr>
              <a:t>Thank You…</a:t>
            </a:r>
            <a:endParaRPr sz="2000" dirty="0">
              <a:solidFill>
                <a:srgbClr val="00206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  <p:extLst>
      <p:ext uri="{BB962C8B-B14F-4D97-AF65-F5344CB8AC3E}">
        <p14:creationId xmlns:p14="http://schemas.microsoft.com/office/powerpoint/2010/main" val="4232703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527</TotalTime>
  <Words>1172</Words>
  <Application>Microsoft Office PowerPoint</Application>
  <PresentationFormat>Widescreen</PresentationFormat>
  <Paragraphs>115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SimSun</vt:lpstr>
      <vt:lpstr>Arial</vt:lpstr>
      <vt:lpstr>Calibri</vt:lpstr>
      <vt:lpstr>Cambria</vt:lpstr>
      <vt:lpstr>Lora</vt:lpstr>
      <vt:lpstr>Lora Medium</vt:lpstr>
      <vt:lpstr>Pacifico</vt:lpstr>
      <vt:lpstr>Times New Roman</vt:lpstr>
      <vt:lpstr>Trebuchet MS</vt:lpstr>
      <vt:lpstr>ui-sans-serif</vt:lpstr>
      <vt:lpstr>Wingdings</vt:lpstr>
      <vt:lpstr>Wingdings 3</vt:lpstr>
      <vt:lpstr>Facet</vt:lpstr>
      <vt:lpstr>PowerPoint Presentation</vt:lpstr>
      <vt:lpstr>OUTLINES</vt:lpstr>
      <vt:lpstr>1. INTRODUCTION</vt:lpstr>
      <vt:lpstr>2. PROBLEM STATEMENT</vt:lpstr>
      <vt:lpstr>3. LITERATURE REVIEW </vt:lpstr>
      <vt:lpstr>3. LITERATURE REVIEW </vt:lpstr>
      <vt:lpstr>4. OBJECTIVES </vt:lpstr>
      <vt:lpstr>5. Methodology </vt:lpstr>
      <vt:lpstr>5. Methodology </vt:lpstr>
      <vt:lpstr>PowerPoint Presentation</vt:lpstr>
      <vt:lpstr>PowerPoint Presentation</vt:lpstr>
      <vt:lpstr>7. Conclusion &amp; Future Work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bikki kumar</dc:creator>
  <cp:lastModifiedBy>bikki kumar</cp:lastModifiedBy>
  <cp:revision>7</cp:revision>
  <dcterms:created xsi:type="dcterms:W3CDTF">2026-01-19T05:41:53Z</dcterms:created>
  <dcterms:modified xsi:type="dcterms:W3CDTF">2026-01-20T08:17:00Z</dcterms:modified>
</cp:coreProperties>
</file>